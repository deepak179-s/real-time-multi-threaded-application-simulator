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6012"/>
  </p:normalViewPr>
  <p:slideViewPr>
    <p:cSldViewPr snapToGrid="0" snapToObjects="1">
      <p:cViewPr varScale="1">
        <p:scale>
          <a:sx n="160" d="100"/>
          <a:sy n="160" d="100"/>
        </p:scale>
        <p:origin x="26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62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55648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14016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72384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30752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0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47488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05856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64224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22592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0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39328" y="27432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7280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55648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14016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72384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30752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0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47488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05856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64224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22592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80960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39328" y="1078992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97280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55648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414016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72384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30752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89120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047488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05856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64224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022592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80960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39328" y="1883664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97280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755648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414016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072384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730752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89120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47488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05856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64224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22592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80960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339328" y="2688336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097280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755648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414016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072384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730752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389120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047488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05856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364224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022592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680960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339328" y="3493008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97280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755648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414016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072384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730752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389120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047488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705856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364224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022592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680960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339328" y="4297680"/>
            <a:ext cx="45720" cy="45720"/>
          </a:xfrm>
          <a:prstGeom prst="ellipse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772400" y="274320"/>
            <a:ext cx="1097280" cy="1097280"/>
          </a:xfrm>
          <a:prstGeom prst="rect">
            <a:avLst/>
          </a:prstGeom>
          <a:solidFill>
            <a:srgbClr val="3B8CFF"/>
          </a:solidFill>
          <a:ln w="12700">
            <a:solidFill>
              <a:srgbClr val="1A6D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77240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⬡</a:t>
            </a:r>
            <a:endParaRPr lang="en-US" sz="4000" dirty="0"/>
          </a:p>
        </p:txBody>
      </p:sp>
      <p:sp>
        <p:nvSpPr>
          <p:cNvPr id="78" name="Text 76"/>
          <p:cNvSpPr/>
          <p:nvPr/>
        </p:nvSpPr>
        <p:spPr>
          <a:xfrm>
            <a:off x="1005840" y="228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57200" y="13716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ThreadLab</a:t>
            </a:r>
            <a:endParaRPr lang="en-US" sz="5200" dirty="0"/>
          </a:p>
        </p:txBody>
      </p:sp>
      <p:sp>
        <p:nvSpPr>
          <p:cNvPr id="80" name="Text 78"/>
          <p:cNvSpPr/>
          <p:nvPr/>
        </p:nvSpPr>
        <p:spPr>
          <a:xfrm>
            <a:off x="45720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Multi-threaded Application Simulator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CFF"/>
                </a:solidFill>
              </a:rPr>
              <a:t>Operating Systems Project Presentation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667217" y="3538728"/>
            <a:ext cx="2858591" cy="895707"/>
          </a:xfrm>
          <a:prstGeom prst="rect">
            <a:avLst/>
          </a:prstGeom>
          <a:solidFill>
            <a:srgbClr val="0F1117"/>
          </a:solidFill>
          <a:ln w="6350">
            <a:solidFill>
              <a:srgbClr val="6B7A9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596896" y="3541237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94"/>
                </a:solidFill>
              </a:rPr>
              <a:t>Student Name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658234" y="3865120"/>
            <a:ext cx="2844350" cy="478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AF0"/>
                </a:solidFill>
              </a:rPr>
              <a:t>Deepak Kumar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E8EAF0"/>
                </a:solidFill>
              </a:rPr>
              <a:t>Madhav Biyani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E8EAF0"/>
                </a:solidFill>
              </a:rPr>
              <a:t>Sai </a:t>
            </a:r>
            <a:r>
              <a:rPr lang="en-US" sz="1100" b="1" dirty="0" err="1">
                <a:solidFill>
                  <a:srgbClr val="E8EAF0"/>
                </a:solidFill>
              </a:rPr>
              <a:t>krisna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383280" y="3547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3383280" y="3730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309360" y="3547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D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Goal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⚠  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Demonstrate multithreading models: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 • Many-to-One (M:1)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 • One-to-One (1:1)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  • Many-to-Many (M:N)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Simulate thread synchronization: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  • Semaphores, Monitors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Visualize CPU scheduling with real-time execution traces.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37160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CFF"/>
                </a:solidFill>
              </a:rPr>
              <a:t>🎯  Project 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Build an interactive educational simulator that: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 • Helps users understand OS concurrency concepts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 • Visually maps threads to kernel resources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  • Shows live state transitions &amp; scheduling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Runs 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 • Electron desktop application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  • Deployable static web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06040" cy="1691640"/>
          </a:xfrm>
          <a:prstGeom prst="rect">
            <a:avLst/>
          </a:prstGeom>
          <a:solidFill>
            <a:srgbClr val="161B24"/>
          </a:solidFill>
          <a:ln w="12700">
            <a:solidFill>
              <a:srgbClr val="3B8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11887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CFF"/>
                </a:solidFill>
              </a:rPr>
              <a:t>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AF0"/>
                </a:solidFill>
              </a:rPr>
              <a:t>Threading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9751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AC8"/>
                </a:solidFill>
              </a:rPr>
              <a:t>Live M:1 / 1:1 / M:N visual thread mapping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960120"/>
            <a:ext cx="2606040" cy="1691640"/>
          </a:xfrm>
          <a:prstGeom prst="rect">
            <a:avLst/>
          </a:prstGeom>
          <a:solidFill>
            <a:srgbClr val="161B24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960120"/>
            <a:ext cx="2606040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C55E"/>
                </a:solidFill>
              </a:rPr>
              <a:t>⚙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64992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AF0"/>
                </a:solidFill>
              </a:rPr>
              <a:t>Synchronization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64992" y="19751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AC8"/>
                </a:solidFill>
              </a:rPr>
              <a:t>Semaphores, Monitors &amp; Barrier primitives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960120"/>
            <a:ext cx="2606040" cy="1691640"/>
          </a:xfrm>
          <a:prstGeom prst="rect">
            <a:avLst/>
          </a:prstGeom>
          <a:solidFill>
            <a:srgbClr val="161B24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9904" y="960120"/>
            <a:ext cx="2606040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9904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</a:rPr>
              <a:t>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81344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AF0"/>
                </a:solidFill>
              </a:rPr>
              <a:t>CPU Scheduling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81344" y="19751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AC8"/>
                </a:solidFill>
              </a:rPr>
              <a:t>FCFS, SJF, Priority &amp; Round Robin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5120640" cy="1078992"/>
          </a:xfrm>
          <a:prstGeom prst="rect">
            <a:avLst/>
          </a:prstGeom>
          <a:solidFill>
            <a:srgbClr val="161B24"/>
          </a:solidFill>
          <a:ln w="635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BAC8"/>
                </a:solidFill>
              </a:rPr>
              <a:t>📋  In Scope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182112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AC8"/>
                </a:solidFill>
              </a:rPr>
              <a:t>✓ Thread lifecycle &amp; state transitions   ✓ Synchronization primitives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AC8"/>
                </a:solidFill>
              </a:rPr>
              <a:t>✓ CPU scheduling algorithms              ✓ Desktop + Web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804672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5079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⚠  Out of Scope: Does NOT create actual OS kernel threads</a:t>
            </a:r>
            <a:r>
              <a:rPr lang="en-US" sz="1050" i="1">
                <a:solidFill>
                  <a:srgbClr val="F59E0B"/>
                </a:solidFill>
              </a:rPr>
              <a:t>. 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2834640"/>
            <a:ext cx="3108960" cy="1078992"/>
          </a:xfrm>
          <a:prstGeom prst="rect">
            <a:avLst/>
          </a:prstGeom>
          <a:solidFill>
            <a:srgbClr val="0F1117"/>
          </a:solidFill>
          <a:ln w="190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0" y="2834640"/>
            <a:ext cx="31089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4"/>
                </a:solidFill>
              </a:rPr>
              <a:t>[Screenshot: ThreadLab Simulator UI]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D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54480" cy="822960"/>
          </a:xfrm>
          <a:prstGeom prst="rect">
            <a:avLst/>
          </a:prstGeom>
          <a:solidFill>
            <a:srgbClr val="3B8CFF">
              <a:alpha val="15000"/>
            </a:srgbClr>
          </a:solidFill>
          <a:ln w="19050">
            <a:solidFill>
              <a:srgbClr val="3B8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User Opens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ThreadLab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74520" y="13716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39112" y="960120"/>
            <a:ext cx="1554480" cy="822960"/>
          </a:xfrm>
          <a:prstGeom prst="rect">
            <a:avLst/>
          </a:prstGeom>
          <a:solidFill>
            <a:srgbClr val="A855F7">
              <a:alpha val="15000"/>
            </a:srgbClr>
          </a:solidFill>
          <a:ln w="19050">
            <a:solidFill>
              <a:srgbClr val="A855F7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39112" y="960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GUI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Module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93592" y="13716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58184" y="960120"/>
            <a:ext cx="1554480" cy="822960"/>
          </a:xfrm>
          <a:prstGeom prst="rect">
            <a:avLst/>
          </a:prstGeom>
          <a:solidFill>
            <a:srgbClr val="3B8CFF">
              <a:alpha val="15000"/>
            </a:srgbClr>
          </a:solidFill>
          <a:ln w="19050">
            <a:solidFill>
              <a:srgbClr val="3B8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58184" y="960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User Selects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Options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12664" y="13716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77256" y="960120"/>
            <a:ext cx="1554480" cy="822960"/>
          </a:xfrm>
          <a:prstGeom prst="rect">
            <a:avLst/>
          </a:prstGeom>
          <a:solidFill>
            <a:srgbClr val="22C55E">
              <a:alpha val="15000"/>
            </a:srgbClr>
          </a:solidFill>
          <a:ln w="1905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77256" y="960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Simulation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31736" y="137160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96328" y="960120"/>
            <a:ext cx="1554480" cy="822960"/>
          </a:xfrm>
          <a:prstGeom prst="rect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96328" y="960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Visualization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Module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34440" y="2029968"/>
            <a:ext cx="2148840" cy="566928"/>
          </a:xfrm>
          <a:prstGeom prst="rect">
            <a:avLst/>
          </a:prstGeom>
          <a:solidFill>
            <a:srgbClr val="3B8CFF">
              <a:alpha val="12000"/>
            </a:srgbClr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202996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Threading Model Logic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2029968"/>
            <a:ext cx="2148840" cy="56692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202996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Synchronization Logic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97880" y="2029968"/>
            <a:ext cx="2148840" cy="56692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202996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CPU Scheduler Logic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26151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↑ Simulation Engine Sub-Modules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2011680" cy="594360"/>
          </a:xfrm>
          <a:prstGeom prst="rect">
            <a:avLst/>
          </a:prstGeom>
          <a:solidFill>
            <a:srgbClr val="161B24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9992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AF0"/>
                </a:solidFill>
              </a:rPr>
              <a:t>State Snapshot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2999232"/>
            <a:ext cx="1920240" cy="59436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14600" y="2999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Mapping Diagram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999232"/>
            <a:ext cx="1920240" cy="59436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17720" y="2999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Logs &amp; Status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20840" y="2999232"/>
            <a:ext cx="1920240" cy="59436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29992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Scheduler View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31720" y="329184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solidFill>
            <a:srgbClr val="3B8CFF">
              <a:alpha val="10000"/>
            </a:srgbClr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7673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CFF"/>
                </a:solidFill>
              </a:rPr>
              <a:t>⟳  Real-Time User Feedback Loop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407408"/>
            <a:ext cx="8503920" cy="457200"/>
          </a:xfrm>
          <a:prstGeom prst="rect">
            <a:avLst/>
          </a:prstGeom>
          <a:solidFill>
            <a:srgbClr val="E8F4FD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0040" y="44074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[INSERT: Flowchart / Architecture Diagram]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GUI &amp; User Interaction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188720" cy="411480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029200" cy="2926080"/>
          </a:xfrm>
          <a:prstGeom prst="rect">
            <a:avLst/>
          </a:prstGeom>
          <a:solidFill>
            <a:srgbClr val="0F1117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4663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AC8"/>
                </a:solidFill>
              </a:rPr>
              <a:t>Tab-based layout: Threading Models, Synchronization, CPU Scheduler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AC8"/>
                </a:solidFill>
              </a:rPr>
              <a:t>Model selector with Run / Stop / Reset / Add Thread controls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AC8"/>
                </a:solidFill>
              </a:rPr>
              <a:t>Speed slider for real-time simulation control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AC8"/>
                </a:solidFill>
              </a:rPr>
              <a:t>Desktop vs. Web runtime detection badge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B0BAC8"/>
                </a:solidFill>
              </a:rPr>
              <a:t>Live activity logs per simulation tab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200400" cy="1234440"/>
          </a:xfrm>
          <a:prstGeom prst="rect">
            <a:avLst/>
          </a:prstGeom>
          <a:solidFill>
            <a:srgbClr val="161B24"/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Usage 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9844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1. Select "Many-to-Many"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2. Set speed slider to 7x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3. Click ▶ Run — observe live thread mapping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331720"/>
            <a:ext cx="3200400" cy="1554480"/>
          </a:xfrm>
          <a:prstGeom prst="rect">
            <a:avLst/>
          </a:prstGeom>
          <a:solidFill>
            <a:srgbClr val="0F1117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0" y="23317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94"/>
                </a:solidFill>
              </a:rPr>
              <a:t>[Screenshot: Threading Models Tab]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507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55F7"/>
                </a:solidFill>
              </a:rPr>
              <a:t>🎯  Purpose: Serves as the Presentation Layer — collects user input and renders simulation state in real-time across 3 tabs.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D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Simulation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188720" cy="411480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97480" cy="11887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CFF"/>
                </a:solidFill>
              </a:rPr>
              <a:t>⬡  Threading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Many-to-One (M:1) — sequential, single KT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One-to-One (1:1) — true parallelism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Many-to-Many (M:N) — multiplexed KTs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52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Dynamic thread pool addition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960120"/>
            <a:ext cx="2697480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4408" y="1115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⚙  Synchronization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536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Semaphore — counter-based access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4408" y="1975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Monitor — producer/consumer pattern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24140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Barrier — wait-for-all synchronization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852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Blocked / waiting state modeling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25896" y="960120"/>
            <a:ext cx="2697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25896" y="960120"/>
            <a:ext cx="2697480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17336" y="1115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⏱  CPU Scheduling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17336" y="15361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FCFS — First Come First Served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17336" y="19751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SJF — Shortest Job First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17336" y="24140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Priority Scheduling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17336" y="28529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› Round Robin (configurable quantum)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6393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D13"/>
                </a:solidFill>
              </a:rPr>
              <a:t>Thread State Transitions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977640"/>
            <a:ext cx="822960" cy="292608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9776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NEW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25880" y="4123944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417320" y="3977640"/>
            <a:ext cx="822960" cy="292608"/>
          </a:xfrm>
          <a:prstGeom prst="rect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17320" y="39776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READY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40280" y="4123944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14600" y="3977640"/>
            <a:ext cx="822960" cy="29260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14600" y="39776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RUNNING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37560" y="4123944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11880" y="3977640"/>
            <a:ext cx="82296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11880" y="39776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WAITING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4840" y="4123944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17720" y="3977640"/>
            <a:ext cx="822960" cy="292608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39776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93B"/>
                </a:solidFill>
              </a:rPr>
              <a:t>DONE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77840" y="3566160"/>
            <a:ext cx="320040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77840" y="35661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[Diagram: Thread State Transition Machine]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Visualization &amp;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274320"/>
            <a:ext cx="1188720" cy="41148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0" y="274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606040" cy="1920240"/>
          </a:xfrm>
          <a:prstGeom prst="rect">
            <a:avLst/>
          </a:prstGeom>
          <a:solidFill>
            <a:srgbClr val="161B24"/>
          </a:solidFill>
          <a:ln w="12700">
            <a:solidFill>
              <a:srgbClr val="3B8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06040" cy="11887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B8CFF"/>
                </a:solidFill>
              </a:rPr>
              <a:t>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AF0"/>
                </a:solidFill>
              </a:rPr>
              <a:t>Thread Mapping Canvas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0BAC8"/>
                </a:solidFill>
              </a:rPr>
              <a:t>SVG diagram — real-time U→K thread assignment 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960120"/>
            <a:ext cx="2606040" cy="1920240"/>
          </a:xfrm>
          <a:prstGeom prst="rect">
            <a:avLst/>
          </a:prstGeom>
          <a:solidFill>
            <a:srgbClr val="161B24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3552" y="960120"/>
            <a:ext cx="2606040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3552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59E0B"/>
                </a:solidFill>
              </a:rPr>
              <a:t>▶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64992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AF0"/>
                </a:solidFill>
              </a:rPr>
              <a:t>Gantt Chart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975104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0BAC8"/>
                </a:solidFill>
              </a:rPr>
              <a:t>CPU time allocation per process, tick-by-tick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960120"/>
            <a:ext cx="2606040" cy="1920240"/>
          </a:xfrm>
          <a:prstGeom prst="rect">
            <a:avLst/>
          </a:prstGeom>
          <a:solidFill>
            <a:srgbClr val="161B24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9904" y="960120"/>
            <a:ext cx="2606040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9904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C55E"/>
                </a:solidFill>
              </a:rPr>
              <a:t>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1344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AF0"/>
                </a:solidFill>
              </a:rPr>
              <a:t>State Chips &amp; Progress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1975104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0BAC8"/>
                </a:solidFill>
              </a:rPr>
              <a:t>Color-coded ready/running/waiting/done chips + bars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5029200" cy="82296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🎯  Purpose: Converts raw simulation state into interactive diagrams — making abstract OS concurrency concepts visible and learnable.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5029200" cy="896112"/>
          </a:xfrm>
          <a:prstGeom prst="rect">
            <a:avLst/>
          </a:prstGeom>
          <a:solidFill>
            <a:srgbClr val="0F111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950208"/>
            <a:ext cx="5029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4"/>
                </a:solidFill>
              </a:rPr>
              <a:t>[Screenshot: Gantt Chart / Scheduler View]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3017520"/>
            <a:ext cx="3200400" cy="1828800"/>
          </a:xfrm>
          <a:prstGeom prst="rect">
            <a:avLst/>
          </a:prstGeom>
          <a:solidFill>
            <a:srgbClr val="0F1117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30175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94"/>
                </a:solidFill>
              </a:rPr>
              <a:t>[Screenshot: Synchronization / Thread Mapping View]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D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37160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33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CFF"/>
                </a:solidFill>
              </a:rPr>
              <a:t>Languages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572768"/>
            <a:ext cx="2487168" cy="594360"/>
          </a:xfrm>
          <a:prstGeom prst="rect">
            <a:avLst/>
          </a:prstGeom>
          <a:solidFill>
            <a:srgbClr val="3B8CFF">
              <a:alpha val="8000"/>
            </a:srgbClr>
          </a:solidFill>
          <a:ln w="63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618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JavaScript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Core simulation &amp; UI logic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2487168" cy="594360"/>
          </a:xfrm>
          <a:prstGeom prst="rect">
            <a:avLst/>
          </a:prstGeom>
          <a:solidFill>
            <a:srgbClr val="3B8CFF">
              <a:alpha val="8000"/>
            </a:srgbClr>
          </a:solidFill>
          <a:ln w="63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HTML5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1208" y="2587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Application structure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999232"/>
            <a:ext cx="2487168" cy="594360"/>
          </a:xfrm>
          <a:prstGeom prst="rect">
            <a:avLst/>
          </a:prstGeom>
          <a:solidFill>
            <a:srgbClr val="3B8CFF">
              <a:alpha val="8000"/>
            </a:srgbClr>
          </a:solidFill>
          <a:ln w="63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CSS3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08" y="33009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Styling &amp; animations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9601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72968" y="960120"/>
            <a:ext cx="2697480" cy="1371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82696" y="1133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Framework &amp;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82696" y="1572768"/>
            <a:ext cx="2487168" cy="594360"/>
          </a:xfrm>
          <a:prstGeom prst="rect">
            <a:avLst/>
          </a:prstGeom>
          <a:solidFill>
            <a:srgbClr val="A855F7">
              <a:alpha val="8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74136" y="1618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Electron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74136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Desktop application shell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82696" y="2286000"/>
            <a:ext cx="2487168" cy="594360"/>
          </a:xfrm>
          <a:prstGeom prst="rect">
            <a:avLst/>
          </a:prstGeom>
          <a:solidFill>
            <a:srgbClr val="A855F7">
              <a:alpha val="8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74136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Node.js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74136" y="2587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Runtime environment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82696" y="2999232"/>
            <a:ext cx="2487168" cy="594360"/>
          </a:xfrm>
          <a:prstGeom prst="rect">
            <a:avLst/>
          </a:prstGeom>
          <a:solidFill>
            <a:srgbClr val="A855F7">
              <a:alpha val="8000"/>
            </a:srgbClr>
          </a:solidFill>
          <a:ln w="63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74136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SVG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74136" y="33009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Interactive visualizations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25896" y="9601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25896" y="960120"/>
            <a:ext cx="2697480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35624" y="11338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5624" y="1572768"/>
            <a:ext cx="2487168" cy="594360"/>
          </a:xfrm>
          <a:prstGeom prst="rect">
            <a:avLst/>
          </a:prstGeom>
          <a:solidFill>
            <a:srgbClr val="22C55E">
              <a:alpha val="8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1618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Vercel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27064" y="1874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Static web hosting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35624" y="2286000"/>
            <a:ext cx="2487168" cy="594360"/>
          </a:xfrm>
          <a:prstGeom prst="rect">
            <a:avLst/>
          </a:prstGeom>
          <a:solidFill>
            <a:srgbClr val="22C55E">
              <a:alpha val="8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27064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Render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27064" y="2587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Hosting alternative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35624" y="2999232"/>
            <a:ext cx="2487168" cy="594360"/>
          </a:xfrm>
          <a:prstGeom prst="rect">
            <a:avLst/>
          </a:prstGeom>
          <a:solidFill>
            <a:srgbClr val="22C55E">
              <a:alpha val="8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27064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Static Server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27064" y="330098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Local preview script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E8F4FD"/>
          </a:solidFill>
          <a:ln w="190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[INSERT: Tech Logos — JavaScript | HTML | CSS | Electron | Node.js | GitHub]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 &amp; Revision Tracking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0" cy="201168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12471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1051560"/>
            <a:ext cx="2286000" cy="347472"/>
          </a:xfrm>
          <a:prstGeom prst="rect">
            <a:avLst/>
          </a:prstGeom>
          <a:solidFill>
            <a:srgbClr val="22C55E">
              <a:alpha val="15000"/>
            </a:srgbClr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70432" y="105156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201168" cy="201168"/>
          </a:xfrm>
          <a:prstGeom prst="ellipse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" y="1636776"/>
            <a:ext cx="365760" cy="0"/>
          </a:xfrm>
          <a:prstGeom prst="line">
            <a:avLst/>
          </a:prstGeom>
          <a:noFill/>
          <a:ln w="190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3000" y="1463040"/>
            <a:ext cx="2286000" cy="347472"/>
          </a:xfrm>
          <a:prstGeom prst="rect">
            <a:avLst/>
          </a:prstGeom>
          <a:solidFill>
            <a:srgbClr val="3B8CFF">
              <a:alpha val="15000"/>
            </a:srgbClr>
          </a:solidFill>
          <a:ln w="1016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70432" y="14630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feature/shared-runtime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47672"/>
            <a:ext cx="201168" cy="20116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2048256"/>
            <a:ext cx="36576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43000" y="1874520"/>
            <a:ext cx="2286000" cy="347472"/>
          </a:xfrm>
          <a:prstGeom prst="rect">
            <a:avLst/>
          </a:prstGeom>
          <a:solidFill>
            <a:srgbClr val="A855F7">
              <a:alpha val="15000"/>
            </a:srgbClr>
          </a:solidFill>
          <a:ln w="1016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70432" y="187452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feature/web-deploy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3591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2459736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3000" y="2286000"/>
            <a:ext cx="228600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70432" y="22860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feature/docs-polish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70632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9808" y="2871216"/>
            <a:ext cx="3657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43000" y="2697480"/>
            <a:ext cx="2286000" cy="347472"/>
          </a:xfrm>
          <a:prstGeom prst="rect">
            <a:avLst/>
          </a:prstGeom>
          <a:solidFill>
            <a:srgbClr val="06B6D4">
              <a:alpha val="15000"/>
            </a:srgbClr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70432" y="26974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feature/macos-dmg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0" y="960120"/>
            <a:ext cx="5120640" cy="2788920"/>
          </a:xfrm>
          <a:prstGeom prst="rect">
            <a:avLst/>
          </a:prstGeom>
          <a:solidFill>
            <a:srgbClr val="0F1117"/>
          </a:solidFill>
          <a:ln w="6350">
            <a:solidFill>
              <a:srgbClr val="6B7A9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10058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Revision History (9 commits)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30752" y="1353312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30752" y="1353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7d030e9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09160" y="135331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Initial commit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30752" y="1600200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30752" y="16002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e8e5ad8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09160" y="16002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refactor: shared app shell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30752" y="1847088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0752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9af6c1c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09160" y="184708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merge: shared runtime support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30752" y="2093976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30752" y="20939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4252e8c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09160" y="20939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feat: static hosting support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30752" y="2340864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30752" y="23408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8c99409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09160" y="234086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fix: remove dependency churn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30752" y="2587752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30752" y="25877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c547afd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09160" y="25877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merge: web deployment support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30752" y="2834640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30752" y="28346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d1d5250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09160" y="283464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chore: dual-mode launch scripts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0752" y="3081528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30752" y="30815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9e33793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09160" y="308152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docs: deployment workflows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30752" y="3328416"/>
            <a:ext cx="914400" cy="201168"/>
          </a:xfrm>
          <a:prstGeom prst="rect">
            <a:avLst/>
          </a:prstGeom>
          <a:solidFill>
            <a:srgbClr val="3B8CFF">
              <a:alpha val="15000"/>
            </a:srgbClr>
          </a:solidFill>
          <a:ln w="508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30752" y="332841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de3c025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09160" y="33284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AC8"/>
                </a:solidFill>
              </a:rPr>
              <a:t>merge: dual-mode docs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3913632"/>
            <a:ext cx="8412480" cy="868680"/>
          </a:xfrm>
          <a:prstGeom prst="rect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" y="39593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</a:rPr>
              <a:t>🔗  github.com/deepak179-s/threadlab  ·  9 revisions  ·  Feature-based branching workflow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0" y="3913632"/>
            <a:ext cx="5120640" cy="868680"/>
          </a:xfrm>
          <a:prstGeom prst="rect">
            <a:avLst/>
          </a:prstGeom>
          <a:solidFill>
            <a:srgbClr val="0F1117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0" y="3913632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A94"/>
                </a:solidFill>
              </a:rPr>
              <a:t>[Screenshot: GitHub Repo / Commit History]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280160"/>
          </a:xfrm>
          <a:prstGeom prst="rect">
            <a:avLst/>
          </a:prstGeom>
          <a:solidFill>
            <a:srgbClr val="3B8CFF">
              <a:alpha val="10000"/>
            </a:srgbClr>
          </a:solidFill>
          <a:ln w="1905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B8CFF"/>
                </a:solidFill>
              </a:rPr>
              <a:t>"ThreadLab successfully demonstrates threading models, synchronization primitives, and CPU scheduling through an interactive, visual simulator."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651760" cy="1371600"/>
          </a:xfrm>
          <a:prstGeom prst="rect">
            <a:avLst/>
          </a:prstGeom>
          <a:solidFill>
            <a:srgbClr val="161B24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51760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Educational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53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0BAC8"/>
                </a:solidFill>
              </a:rPr>
              <a:t>Thread models, synchronization &amp; scheduling made visual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423160"/>
            <a:ext cx="2651760" cy="1371600"/>
          </a:xfrm>
          <a:prstGeom prst="rect">
            <a:avLst/>
          </a:prstGeom>
          <a:solidFill>
            <a:srgbClr val="161B24"/>
          </a:solidFill>
          <a:ln w="12700">
            <a:solidFill>
              <a:srgbClr val="3B8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651760" cy="11887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CFF"/>
                </a:solidFill>
              </a:rPr>
              <a:t>✓ Full Stack Sim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953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0BAC8"/>
                </a:solidFill>
              </a:rPr>
              <a:t>Desktop (Electron) + deployable web application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423160"/>
            <a:ext cx="2651760" cy="1371600"/>
          </a:xfrm>
          <a:prstGeom prst="rect">
            <a:avLst/>
          </a:prstGeom>
          <a:solidFill>
            <a:srgbClr val="161B24"/>
          </a:solidFill>
          <a:ln w="12700">
            <a:solidFill>
              <a:srgbClr val="A855F7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2423160"/>
            <a:ext cx="2651760" cy="1188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</a:rPr>
              <a:t>✓ Solid Git Workflow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9535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0BAC8"/>
                </a:solidFill>
              </a:rPr>
              <a:t>9 commits, 5 branches, clean feature-based 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0F1117"/>
          </a:solidFill>
          <a:ln w="635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995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AC8"/>
                </a:solidFill>
              </a:rPr>
              <a:t>The project follows a structured GitHub workflow and satisfies all OS concurrency simulation requirements with a clean, modular 3-layer architecture (GUI → Engine → Visualization).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D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09728" cy="960120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069848"/>
            <a:ext cx="384048" cy="384048"/>
          </a:xfrm>
          <a:prstGeom prst="rect">
            <a:avLst/>
          </a:prstGeom>
          <a:solidFill>
            <a:srgbClr val="3B8CFF">
              <a:alpha val="20000"/>
            </a:srgbClr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069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C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Export Logs &amp;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Export simulation data to JSON / CSV for offline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109728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9472" y="1069848"/>
            <a:ext cx="384048" cy="38404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069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1033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More Scheduling Algorithms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13075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Multilevel Queue (MLQ) and Multilevel Feedback Queue (MLFQ)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057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057400"/>
            <a:ext cx="109728" cy="9601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" y="2167128"/>
            <a:ext cx="384048" cy="384048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Installer Branding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2404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Custom application icons and polished Electron desktop installer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057400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19472" y="2167128"/>
            <a:ext cx="384048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Test Automation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94960" y="2404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Automated correctness tests for all simulation engines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1546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3154680"/>
            <a:ext cx="10972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" y="3264408"/>
            <a:ext cx="384048" cy="38404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Public Web Demo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0120" y="35021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Hosted demo with tutorial mode, analytics &amp; shareable links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1546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3154680"/>
            <a:ext cx="109728" cy="9601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919472" y="3264408"/>
            <a:ext cx="384048" cy="384048"/>
          </a:xfrm>
          <a:prstGeom prst="rect">
            <a:avLst/>
          </a:prstGeom>
          <a:solidFill>
            <a:srgbClr val="94A3B8">
              <a:alpha val="2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19472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94960" y="3227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Deadlock Module (Future)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94960" y="35021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Add deadlock detection &amp; resolution as a future optional feature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solidFill>
            <a:srgbClr val="E8F4FD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[INSERT: Illustration — Future Web/Cloud Integration Vision]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7744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10896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3504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27432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4592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7744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0896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0352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6656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1078992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64592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37744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0896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0352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3504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49808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29600" y="1883664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8288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440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4592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37744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0896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84048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30352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3504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6656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49808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229600" y="2688336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8288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1440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64592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37744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10896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84048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7200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30352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03504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76656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49808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229600" y="3493008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8288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440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64592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37744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10896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84048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57200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30352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03504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76656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49808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229600" y="4297680"/>
            <a:ext cx="45720" cy="45720"/>
          </a:xfrm>
          <a:prstGeom prst="ellipse">
            <a:avLst/>
          </a:prstGeom>
          <a:solidFill>
            <a:srgbClr val="3B8CFF">
              <a:alpha val="15000"/>
            </a:srgbClr>
          </a:solidFill>
          <a:ln w="12700">
            <a:solidFill>
              <a:srgbClr val="3B8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3B8CFF"/>
          </a:solidFill>
          <a:ln w="12700">
            <a:solidFill>
              <a:srgbClr val="3B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Q&amp;A</a:t>
            </a:r>
            <a:endParaRPr lang="en-US" sz="2800" dirty="0"/>
          </a:p>
        </p:txBody>
      </p:sp>
      <p:sp>
        <p:nvSpPr>
          <p:cNvPr id="76" name="Shape 74"/>
          <p:cNvSpPr/>
          <p:nvPr/>
        </p:nvSpPr>
        <p:spPr>
          <a:xfrm>
            <a:off x="365760" y="960120"/>
            <a:ext cx="5486400" cy="2880360"/>
          </a:xfrm>
          <a:prstGeom prst="rect">
            <a:avLst/>
          </a:prstGeom>
          <a:solidFill>
            <a:srgbClr val="0F1117"/>
          </a:solidFill>
          <a:ln w="6350">
            <a:solidFill>
              <a:srgbClr val="6B7A94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02920" y="10241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CFF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502920" y="13898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[1]  MultiThreaded_Simulator_ProjectDoc.pdf (Assignment Reference)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02920" y="177393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[2]  Electron Documentation — electronjs.org/docs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02920" y="2157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[3]  GitHub Documentation — docs.github.com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02920" y="25420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[4]  Vercel Documentation — vercel.com/docs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02920" y="2926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[5]  Render Documentation — render.com/docs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02920" y="33101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AC8"/>
                </a:solidFill>
              </a:rPr>
              <a:t>[6]  MDN Web Docs — developer.mozilla.org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035040" y="960120"/>
            <a:ext cx="2743200" cy="2880360"/>
          </a:xfrm>
          <a:prstGeom prst="rect">
            <a:avLst/>
          </a:prstGeom>
          <a:solidFill>
            <a:srgbClr val="1A6DFF">
              <a:alpha val="12000"/>
            </a:srgbClr>
          </a:solidFill>
          <a:ln w="19050">
            <a:solidFill>
              <a:srgbClr val="3B8C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0350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3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800" dirty="0"/>
          </a:p>
        </p:txBody>
      </p:sp>
      <p:sp>
        <p:nvSpPr>
          <p:cNvPr id="86" name="Text 84"/>
          <p:cNvSpPr/>
          <p:nvPr/>
        </p:nvSpPr>
        <p:spPr>
          <a:xfrm>
            <a:off x="603504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03504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0BAC8"/>
                </a:solidFill>
              </a:rPr>
              <a:t>Questions Welcome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0F1117"/>
          </a:solidFill>
          <a:ln w="6350">
            <a:solidFill>
              <a:srgbClr val="6B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0292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94"/>
                </a:solidFill>
              </a:rPr>
              <a:t>ThreadLab: Real-Time Multi-threaded Application Simulator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B7A94"/>
                </a:solidFill>
              </a:rPr>
              <a:t>GitHub: github.com/deepak179-s/threadlab  ·  Operating Systems Project Presentation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1008</Words>
  <Application>Microsoft Macintosh PowerPoint</Application>
  <PresentationFormat>On-screen Show 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ThreadLab: Real-Time Multi-threaded Application Simulator</dc:title>
  <dc:subject>PptxGenJS Presentation</dc:subject>
  <dc:creator>ThreadLab Team</dc:creator>
  <cp:lastModifiedBy>deepak kumar</cp:lastModifiedBy>
  <cp:revision>3</cp:revision>
  <dcterms:created xsi:type="dcterms:W3CDTF">2026-04-26T23:23:12Z</dcterms:created>
  <dcterms:modified xsi:type="dcterms:W3CDTF">2026-04-28T16:44:21Z</dcterms:modified>
</cp:coreProperties>
</file>